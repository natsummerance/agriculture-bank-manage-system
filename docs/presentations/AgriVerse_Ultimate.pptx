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FFFFFF"/>
                </a:solidFill>
                <a:latin typeface="Microsoft YaHei UI"/>
              </a:rPr>
              <a:t>AgriVerse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38EF7D"/>
                </a:solidFill>
                <a:latin typeface="Microsoft YaHei UI"/>
              </a:rPr>
              <a:t>农业产品融销平台 · 种植智慧 收获未来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ABE"/>
                </a:solidFill>
                <a:latin typeface="Microsoft YaHei UI"/>
              </a:rPr>
              <a:t>第十小组中期答辩 | 2025年1月 | v1.2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 UI"/>
              </a:rPr>
              <a:t>项目技术全景 (Tech Stack)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6C2"/>
                </a:solidFill>
                <a:latin typeface="Microsoft YaHei UI"/>
              </a:rPr>
              <a:t>Frontend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 UI"/>
              </a:rPr>
              <a:t>• React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ABE"/>
                </a:solidFill>
                <a:latin typeface="Microsoft YaHei UI"/>
              </a:rPr>
              <a:t>Concurrent Mode, Suspense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 UI"/>
              </a:rPr>
              <a:t>•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ABE"/>
                </a:solidFill>
                <a:latin typeface="Microsoft YaHei UI"/>
              </a:rPr>
              <a:t>Strict Type Checking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 UI"/>
              </a:rPr>
              <a:t>• Vite 5.x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ABE"/>
                </a:solidFill>
                <a:latin typeface="Microsoft YaHei UI"/>
              </a:rPr>
              <a:t>Instant Server 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 UI"/>
              </a:rPr>
              <a:t>• Zustand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ABE"/>
                </a:solidFill>
                <a:latin typeface="Microsoft YaHei UI"/>
              </a:rPr>
              <a:t>Atomic State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 UI"/>
              </a:rPr>
              <a:t>• Tailwind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ABE"/>
                </a:solidFill>
                <a:latin typeface="Microsoft YaHei UI"/>
              </a:rPr>
              <a:t>Utility-first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 UI"/>
              </a:rPr>
              <a:t>• WebGL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ABE"/>
                </a:solidFill>
                <a:latin typeface="Microsoft YaHei UI"/>
              </a:rPr>
              <a:t>Three.js / React-Three-Fiber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2D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383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ABE"/>
                </a:solidFill>
                <a:latin typeface="Microsoft YaHei UI"/>
              </a:rPr>
              <a:t>[Home Page 3D Planet]</a:t>
            </a:r>
            <a:br/>
            <a:r>
              <a:t>PLACE UI SCREENSHOT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8EF7D"/>
                </a:solidFill>
                <a:latin typeface="Microsoft YaHei UI"/>
              </a:rPr>
              <a:t>农户角色：融销一体化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6858000" cy="4572000"/>
          </a:xfrm>
          <a:prstGeom prst="roundRect">
            <a:avLst>
              <a:gd name="adj" fmla="val 3000"/>
            </a:avLst>
          </a:prstGeom>
          <a:solidFill>
            <a:srgbClr val="2D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ABE"/>
                </a:solidFill>
                <a:latin typeface="Microsoft YaHei UI"/>
              </a:rPr>
              <a:t>[Farmer Dashboard &amp; Joint Loan]</a:t>
            </a:r>
            <a:br/>
            <a:r>
              <a:t>PLACE UI SCREENSHOT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371600"/>
            <a:ext cx="4114800" cy="4572000"/>
          </a:xfrm>
          <a:prstGeom prst="roundRect">
            <a:avLst>
              <a:gd name="adj" fmla="val 3000"/>
            </a:avLst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EF7D"/>
                </a:solidFill>
                <a:latin typeface="Microsoft YaHei UI"/>
              </a:rPr>
              <a:t>田心星云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65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ABE"/>
                </a:solidFill>
                <a:latin typeface="Microsoft YaHei UI"/>
              </a:rPr>
              <a:t>数据可视化看板，实时监控产量与收益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EF7D"/>
                </a:solidFill>
                <a:latin typeface="Microsoft YaHei UI"/>
              </a:rPr>
              <a:t>智能拼单 (Joint Loan)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971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ABE"/>
                </a:solidFill>
                <a:latin typeface="Microsoft YaHei UI"/>
              </a:rPr>
              <a:t>独创功能：金额不足自动匹配拼单，降低融资门槛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EF7D"/>
                </a:solidFill>
                <a:latin typeface="Microsoft YaHei UI"/>
              </a:rPr>
              <a:t>电子签约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97763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ABE"/>
                </a:solidFill>
                <a:latin typeface="Microsoft YaHei UI"/>
              </a:rPr>
              <a:t>全流程无纸化，在线签署法律效力合同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EF7D"/>
                </a:solidFill>
                <a:latin typeface="Microsoft YaHei UI"/>
              </a:rPr>
              <a:t>田心市场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98347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ABE"/>
                </a:solidFill>
                <a:latin typeface="Microsoft YaHei UI"/>
              </a:rPr>
              <a:t>一键发布农产品，支持批量打印电子面单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8EF7D"/>
                </a:solidFill>
                <a:latin typeface="Microsoft YaHei UI"/>
              </a:rPr>
              <a:t>核心业务逻辑：智能拼单 (Joint Loan)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3657600"/>
          </a:xfrm>
          <a:prstGeom prst="roundRect">
            <a:avLst>
              <a:gd name="adj" fmla="val 3000"/>
            </a:avLst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 UI"/>
              </a:rPr>
              <a:t>01. 发起申请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ABE"/>
                </a:solidFill>
                <a:latin typeface="Microsoft YaHei UI"/>
              </a:rPr>
              <a:t>用户申请额度 &lt; 银行最低门槛</a:t>
            </a:r>
            <a:br/>
            <a:r>
              <a:t>系统自动触发“拼单模式”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3200400" cy="3657600"/>
          </a:xfrm>
          <a:prstGeom prst="roundRect">
            <a:avLst>
              <a:gd name="adj" fmla="val 3000"/>
            </a:avLst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 UI"/>
              </a:rPr>
              <a:t>02. 智能匹配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7432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ABE"/>
                </a:solidFill>
                <a:latin typeface="Microsoft YaHei UI"/>
              </a:rPr>
              <a:t>算法根据：</a:t>
            </a:r>
            <a:br/>
            <a:r>
              <a:t>- 信用评分</a:t>
            </a:r>
            <a:br/>
            <a:r>
              <a:t>- 资金需求量</a:t>
            </a:r>
            <a:br/>
            <a:r>
              <a:t>- 种植周期</a:t>
            </a:r>
            <a:br/>
            <a:r>
              <a:t>自动推荐最佳拼单伙伴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28800"/>
            <a:ext cx="3200400" cy="3657600"/>
          </a:xfrm>
          <a:prstGeom prst="roundRect">
            <a:avLst>
              <a:gd name="adj" fmla="val 3000"/>
            </a:avLst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 UI"/>
              </a:rPr>
              <a:t>03. 联合授信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7432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ABE"/>
                </a:solidFill>
                <a:latin typeface="Microsoft YaHei UI"/>
              </a:rPr>
              <a:t>拼单组队成功 -&gt; 形成资产包</a:t>
            </a:r>
            <a:br/>
            <a:r>
              <a:t>银行统一授信 -&gt; 分别放款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Microsoft YaHei UI"/>
              </a:rPr>
              <a:t>买家角色：沉浸式采购体验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2D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ABE"/>
                </a:solidFill>
                <a:latin typeface="Microsoft YaHei UI"/>
              </a:rPr>
              <a:t>[Buyer Dashboard]</a:t>
            </a:r>
            <a:br/>
            <a:r>
              <a:t>PLACE UI SCREENSHOT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2D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33832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ABE"/>
                </a:solidFill>
                <a:latin typeface="Microsoft YaHei UI"/>
              </a:rPr>
              <a:t>[Cart &amp; Product Detail]</a:t>
            </a:r>
            <a:br/>
            <a:r>
              <a:t>PLACE UI SCREENSHOT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Microsoft YaHei UI"/>
              </a:rPr>
              <a:t>主要功能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 UI"/>
              </a:rPr>
              <a:t>• 购市星云 (采购驾驶舱)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 UI"/>
              </a:rPr>
              <a:t>• 多维度商品对比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 UI"/>
              </a:rPr>
              <a:t>• 购物车与分期支付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 UI"/>
              </a:rPr>
              <a:t>• 全流程退款追踪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D700"/>
                </a:solidFill>
                <a:latin typeface="Microsoft YaHei UI"/>
              </a:rPr>
              <a:t>银行角色：智能风控体系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7772400" cy="4572000"/>
          </a:xfrm>
          <a:prstGeom prst="roundRect">
            <a:avLst>
              <a:gd name="adj" fmla="val 3000"/>
            </a:avLst>
          </a:prstGeom>
          <a:solidFill>
            <a:srgbClr val="2D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ABE"/>
                </a:solidFill>
                <a:latin typeface="Microsoft YaHei UI"/>
              </a:rPr>
              <a:t>[Risk Control Cockpit (Charts)]</a:t>
            </a:r>
            <a:br/>
            <a:r>
              <a:t>PLACE UI SCREENSHOT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1371600"/>
            <a:ext cx="3200400" cy="4572000"/>
          </a:xfrm>
          <a:prstGeom prst="roundRect">
            <a:avLst>
              <a:gd name="adj" fmla="val 3000"/>
            </a:avLst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  <a:latin typeface="Microsoft YaHei UI"/>
              </a:rPr>
              <a:t>信贷工厂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 UI"/>
              </a:rPr>
              <a:t>评分卡模型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ABE"/>
                </a:solidFill>
                <a:latin typeface="Microsoft YaHei UI"/>
              </a:rPr>
              <a:t>A/B/C卡自动评分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 UI"/>
              </a:rPr>
              <a:t>贷后预警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ABE"/>
                </a:solidFill>
                <a:latin typeface="Microsoft YaHei UI"/>
              </a:rPr>
              <a:t>资金流向异常监控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 UI"/>
              </a:rPr>
              <a:t>电子合同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ABE"/>
                </a:solidFill>
                <a:latin typeface="Microsoft YaHei UI"/>
              </a:rPr>
              <a:t>一键生成/签署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 UI"/>
              </a:rPr>
              <a:t>放款管理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ABE"/>
                </a:solidFill>
                <a:latin typeface="Microsoft YaHei UI"/>
              </a:rPr>
              <a:t>自动化放款流程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 UI"/>
              </a:rPr>
              <a:t>生态支撑：专家服务与运营管理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84FC"/>
                </a:solidFill>
                <a:latin typeface="Microsoft YaHei UI"/>
              </a:rPr>
              <a:t>🎓 专家 (Expert)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4937760" cy="2743200"/>
          </a:xfrm>
          <a:prstGeom prst="roundRect">
            <a:avLst>
              <a:gd name="adj" fmla="val 3000"/>
            </a:avLst>
          </a:prstGeom>
          <a:solidFill>
            <a:srgbClr val="2D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ABE"/>
                </a:solidFill>
                <a:latin typeface="Microsoft YaHei UI"/>
              </a:rPr>
              <a:t>[Expert Q&amp;A / Knowledge]</a:t>
            </a:r>
            <a:br/>
            <a:r>
              <a:t>PLACE UI SCREENSHOT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ABE"/>
                </a:solidFill>
                <a:latin typeface="Microsoft YaHei UI"/>
              </a:rPr>
              <a:t>• 付费问答与知识变现</a:t>
            </a:r>
            <a:br/>
            <a:r>
              <a:t>• 预约咨询日历管理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3F5E"/>
                </a:solidFill>
                <a:latin typeface="Microsoft YaHei UI"/>
              </a:rPr>
              <a:t>🛡️ 管理员 (Admin)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286000"/>
            <a:ext cx="4937760" cy="2743200"/>
          </a:xfrm>
          <a:prstGeom prst="roundRect">
            <a:avLst>
              <a:gd name="adj" fmla="val 3000"/>
            </a:avLst>
          </a:prstGeom>
          <a:solidFill>
            <a:srgbClr val="2D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3832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ABE"/>
                </a:solidFill>
                <a:latin typeface="Microsoft YaHei UI"/>
              </a:rPr>
              <a:t>[Admin Operation Center]</a:t>
            </a:r>
            <a:br/>
            <a:r>
              <a:t>PLACE UI SCREENSHOT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303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AABE"/>
                </a:solidFill>
                <a:latin typeface="Microsoft YaHei UI"/>
              </a:rPr>
              <a:t>• 内容/商品/专家三审机制</a:t>
            </a:r>
            <a:br/>
            <a:r>
              <a:t>• 全平台权限与日志监控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6C2"/>
                </a:solidFill>
                <a:latin typeface="Microsoft YaHei UI"/>
              </a:rPr>
              <a:t>技术亮点：三层导航架构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8229600" cy="914400"/>
          </a:xfrm>
          <a:prstGeom prst="roundRect">
            <a:avLst>
              <a:gd name="adj" fmla="val 3000"/>
            </a:avLst>
          </a:prstGeom>
          <a:solidFill>
            <a:srgbClr val="00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Microsoft YaHei UI"/>
              </a:rPr>
              <a:t>Level 1: 顶部主导航 (Tab Switching)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ABE"/>
                </a:solidFill>
                <a:latin typeface="Microsoft YaHei UI"/>
              </a:rPr>
              <a:t>⬇ navigateToTab()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200400"/>
            <a:ext cx="6400800" cy="914400"/>
          </a:xfrm>
          <a:prstGeom prst="roundRect">
            <a:avLst>
              <a:gd name="adj" fmla="val 3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 UI"/>
              </a:rPr>
              <a:t>Level 2: 页面子路由 (Sub-Route System)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ABE"/>
                </a:solidFill>
                <a:latin typeface="Microsoft YaHei UI"/>
              </a:rPr>
              <a:t>⬇ navigateToSubRoute()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572000"/>
            <a:ext cx="4572000" cy="914400"/>
          </a:xfrm>
          <a:prstGeom prst="roundRect">
            <a:avLst>
              <a:gd name="adj" fmla="val 3000"/>
            </a:avLst>
          </a:prstGeom>
          <a:solidFill>
            <a:srgbClr val="00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 UI"/>
              </a:rPr>
              <a:t>Level 3: 移动端底部导航 (Mobile Only)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6C2"/>
                </a:solidFill>
                <a:latin typeface="Microsoft YaHei UI"/>
              </a:rPr>
              <a:t>技术亮点：Zustand 状态管理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4572000" cy="4572000"/>
          </a:xfrm>
          <a:prstGeom prst="roundRect">
            <a:avLst>
              <a:gd name="adj" fmla="val 3000"/>
            </a:avLst>
          </a:prstGeom>
          <a:solidFill>
            <a:srgbClr val="2D3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ABE"/>
                </a:solidFill>
                <a:latin typeface="Microsoft YaHei UI"/>
              </a:rPr>
              <a:t>[Store Code Snippet]</a:t>
            </a:r>
            <a:br/>
            <a:r>
              <a:t>PLACE UI SCREENSHOT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371600"/>
            <a:ext cx="6217920" cy="4572000"/>
          </a:xfrm>
          <a:prstGeom prst="roundRect">
            <a:avLst>
              <a:gd name="adj" fmla="val 3000"/>
            </a:avLst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 UI"/>
              </a:rPr>
              <a:t>模块化 Store 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2860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0AABE"/>
                </a:solidFill>
                <a:latin typeface="Microsoft YaHei UI"/>
              </a:rPr>
              <a:t>• financingStore: 封装利息计算、还款计划生成逻辑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0175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0AABE"/>
                </a:solidFill>
                <a:latin typeface="Microsoft YaHei UI"/>
              </a:rPr>
              <a:t>• cartStore: 本地持久化、金额自动汇总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749039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0AABE"/>
                </a:solidFill>
                <a:latin typeface="Microsoft YaHei UI"/>
              </a:rPr>
              <a:t>• userStore: 角色权限控制 (RBAC)、Token管理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480559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0AABE"/>
                </a:solidFill>
                <a:latin typeface="Microsoft YaHei UI"/>
              </a:rPr>
              <a:t>• msgStore: 全局消息通知、WebSocket 状态同步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 UI"/>
              </a:rPr>
              <a:t>项目完成度 (Status Report)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474720" cy="3657600"/>
          </a:xfrm>
          <a:prstGeom prst="roundRect">
            <a:avLst>
              <a:gd name="adj" fmla="val 3000"/>
            </a:avLst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38EF7D"/>
                </a:solidFill>
                <a:latin typeface="Microsoft YaHei UI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 UI"/>
              </a:rPr>
              <a:t>API 接口联调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AABE"/>
                </a:solidFill>
                <a:latin typeface="Microsoft YaHei UI"/>
              </a:rPr>
              <a:t>115/115 接口全通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474720" cy="3657600"/>
          </a:xfrm>
          <a:prstGeom prst="roundRect">
            <a:avLst>
              <a:gd name="adj" fmla="val 3000"/>
            </a:avLst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286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00D6C2"/>
                </a:solidFill>
                <a:latin typeface="Microsoft YaHei UI"/>
              </a:rPr>
              <a:t>60+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 UI"/>
              </a:rPr>
              <a:t>功能页面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AABE"/>
                </a:solidFill>
                <a:latin typeface="Microsoft YaHei UI"/>
              </a:rPr>
              <a:t>覆盖5大角色全流程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474720" cy="3657600"/>
          </a:xfrm>
          <a:prstGeom prst="roundRect">
            <a:avLst>
              <a:gd name="adj" fmla="val 3000"/>
            </a:avLst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2860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43F5E"/>
                </a:solidFill>
                <a:latin typeface="Microsoft YaHei UI"/>
              </a:rPr>
              <a:t>V1.2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 UI"/>
              </a:rPr>
              <a:t>当前版本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AABE"/>
                </a:solidFill>
                <a:latin typeface="Microsoft YaHei UI"/>
              </a:rPr>
              <a:t>架构稳定 交互流畅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 UI"/>
              </a:rPr>
              <a:t>未来计划 (Future Roadmap)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332720" cy="3657600"/>
          </a:xfrm>
          <a:prstGeom prst="roundRect">
            <a:avLst>
              <a:gd name="adj" fmla="val 3000"/>
            </a:avLst>
          </a:prstGeom>
          <a:solidFill>
            <a:srgbClr val="1E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6C2"/>
                </a:solidFill>
                <a:latin typeface="Microsoft YaHei UI"/>
              </a:rPr>
              <a:t>Phase 1: 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194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0AABE"/>
                </a:solidFill>
                <a:latin typeface="Microsoft YaHei UI"/>
              </a:rPr>
              <a:t>E2E 自动化测试覆盖核心流程 (Cypress)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6C2"/>
                </a:solidFill>
                <a:latin typeface="Microsoft YaHei UI"/>
              </a:rPr>
              <a:t>Phase 2: 性能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0AABE"/>
                </a:solidFill>
                <a:latin typeface="Microsoft YaHei UI"/>
              </a:rPr>
              <a:t>微前端物理拆分，路由懒加载优化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6C2"/>
                </a:solidFill>
                <a:latin typeface="Microsoft YaHei UI"/>
              </a:rPr>
              <a:t>Phase 3: 生态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0AABE"/>
                </a:solidFill>
                <a:latin typeface="Microsoft YaHei UI"/>
              </a:rPr>
              <a:t>PWA 离线支持，i18n 多语言适配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6C2"/>
                </a:solidFill>
                <a:latin typeface="Microsoft YaHei UI"/>
              </a:rPr>
              <a:t>Phase 4: 实时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89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0AABE"/>
                </a:solidFill>
                <a:latin typeface="Microsoft YaHei UI"/>
              </a:rPr>
              <a:t>WebSocket 消息全链路打通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Microsoft YaHei UI"/>
              </a:rPr>
              <a:t>AgriVerse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114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38EF7D"/>
                </a:solidFill>
                <a:latin typeface="Microsoft YaHei UI"/>
              </a:rPr>
              <a:t>感谢观看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